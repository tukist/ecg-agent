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各位老师、同学好。今天介绍的是 ecg_agent，一个可穿戴心电分析智能体。它做两件事：把心电信号跑成一条可复核的分析链路，以及用多重策略把误报压下去。先给一个口径：所有输出都是提示级，不是诊断。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课程点名了两件事：算法落地，以及多重策略防误报。这个系统把两件事放进了同一条链路：预处理到筛查全部自实现，五层策略可以单独开关，所有输出停留在“疑似、建议就医复核”。一句话概括产品边界：机器负责筛，人负责判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系统一共八个模块，按数据流排：数据接入、预处理与质量、QRS 与 HRV、心律筛查、五层防误报、人群参数、报告与 AI、实时监测。后面每一页会沿着这条线展开，先看入口，再看算法和策略，最后看证据和边界。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数据入口有三类。MIT-BIH 是带逐拍标注的公开库，随包带了 5 条，补全 48 条后可以复算全库指标。PPG-DaLiA 是真实穿戴长时程，包里有 S1 约 2.6 小时的缓存。第三类是上传，支持 npy、csv，以及 WFDB 的 hea 加 dat。三类数据都走同一条分析管线，右侧同时可以填受检者信息和选五层策略。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分析管线是五步：预处理、质量评估、QRS 检测、HRV、心律筛查。预处理是两级中值滤波加带通和陷波；质量评估按 10 秒窗打 0 到 1 的分；QRS 用自实现的 Pan-Tompkins，再用 XQRS 做第二意见；HRV 出 SDNN、RMSSD、pNN50 和样本熵；最后筛查停搏、过速、过缓、早搏和房颤样。30 分钟记录在 CPU 上大约 5 秒，约 390 倍实时，纯 numpy 和 scipy。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防误报是课程重点，也是这套系统的重心。五层是质量门控、分级、二次确认、人审兜底、个体定标。拿 114 号低幅噪声记录做对照：裸阈值报 37 条，串联五层后剩 6 条。窦律时段报警率从 5.95 降到 1.84 次每小时，降了 69%。代价是房颤检出从 6/6 变成 5/6，这是取舍，不是 bug。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一次分析先看四个数：总体分级、上报事件、被压掉候选、有效监测占比。这张图是 203 号记录，30 分钟，受检者 35 岁男性。结果是 2 个上报事件、0 个被压掉、有效监测占比 100%。被压掉候选不是丢弃，它们会进入报告附录，写清压掉的原因。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每个结论都能追到原因。事件表给出类型、时间、分级、置信度和依据；下面是被压掉候选的附录；再往下是完整决策日志，包括工具调用、每一步耗时，以及 L1 到 L5 各压掉多少。这条链路是给医生复核用的，也是我们敢说“可审计”的依据。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分析完可以一键出报告。报告包含结论、心率概览、事件表、被压掉候选、四联图和决策日志。四联图分别是心率曲线加事件色带、信号质量分、RR 间期 Poincaré 散点、波形示例。所有措辞都停在“疑似、建议就医复核”，可以直接交给医生，也可以作为课程材料留档。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人群参数是后加的。年龄决定年龄段阈值，从新生儿到老年一共八档；性别和 BMI 只对过速上限做小幅弱修正。顺序是人群先验，再用本人前 5 分钟基线做个体微调。这里要特别说明：儿科档位的阈值来自临床参考范围，没有在本项目数据上验证，所以 18 岁以下房颤筛查是关闭的。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大模型只负责“说人话”。算法先给出结构化结果，DeepSeek 把它改写成受检者能看懂的解读，也支持基于决策日志追问。边界是硬的：只能用提示级措辞、不能编数字、不确定就说不确定、不给治疗建议。判不判由算法定，怎么说由模型润色。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实时监测是每秒接收、每 5 秒分析最近 60 秒。为什么是 60 秒？因为房颤滑窗本身要 30 秒，再留一个完整 RR 的余量，30 秒窗口一个房颤窗都取不到。这张图里已经跑出 1 个房颤样事件，心率 100，有效占比 100%。实时模式只做单窗判定，可靠性低于离线版的双窗确认。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指标都在公开数据上复算。QRS 自实现是 99.22% 的敏感度、98.81% 的 PPV，和 XQRS 同一水平。房颤样筛查 91.7% 敏感度、93.6% 特异度。室性早搏 94.8% 敏感度、85.5% PPV。消融上，五层把窦律报警率降了 69%。噪声测试里，基线漂移、工频、肌电的识别率是 94% 到 100%，但运动伪差是 0%，这是已知短板。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最后主动交代限制。第一，S 类室上早基本做不出来，敏感度只有 4.6%。第二，114 和 203 这类低幅记录会漏检，报告里可能出现“停搏 18.5 秒”这种假事件，这个我们认。第三，儿科阈值没有验证，18 岁以下房颤筛查关闭。第四，所有阈值都要用自采数据重新标定。下一步不是加功能，是把已有能力验证扎实：心拍分类回灌检测器、补 P 波和房扑特征、用儿科数据和自采数据重标。收个尾：提示级、可复核、边界清晰——机器负责筛，人负责判。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ecg_agent_intro_2026102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ecg_agent_intro_2026102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92f219a66d7fdb8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ac523a4e7300ba5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358d51602da36fc.png"/>
  <Relationship Id="rId3" Type="http://schemas.openxmlformats.org/officeDocument/2006/relationships/image" Target="../media/image_e1e8aa9f207c810a.pn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2b78cb1db483b98.png"/>
  <Relationship Id="rId3" Type="http://schemas.openxmlformats.org/officeDocument/2006/relationships/image" Target="../media/image_e2e6769b1f629f6c.png"/>
  <Relationship Id="rId4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79860b7be799eb0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d8c944386b02bd6.png"/>
  <Relationship Id="rId3" Type="http://schemas.openxmlformats.org/officeDocument/2006/relationships/image" Target="../media/image_4d267b4d01726cfe.pn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9d768d34cc20c4c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0"/>
            <a:ext cx="10972800" cy="6858000"/>
          </a:xfrm>
          <a:custGeom>
            <a:avLst/>
            <a:gdLst/>
            <a:ahLst/>
            <a:cxnLst/>
            <a:rect l="l" t="t" r="r" b="b"/>
            <a:pathLst>
              <a:path w="10972800" h="6858000">
                <a:moveTo>
                  <a:pt x="0" y="0"/>
                </a:moveTo>
                <a:lnTo>
                  <a:pt x="0" y="6858000"/>
                </a:lnTo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</a:path>
            </a:pathLst>
          </a:custGeom>
          <a:noFill/>
          <a:ln w="9525">
            <a:solidFill>
              <a:srgbClr val="1A2942">
                <a:alpha val="45000"/>
              </a:srgbClr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590550" y="893445"/>
            <a:ext cx="5126736" cy="3488055"/>
            <a:chOff x="590550" y="893445"/>
            <a:chExt cx="5126736" cy="3488055"/>
          </a:xfrm>
        </p:grpSpPr>
        <p:sp>
          <p:nvSpPr>
            <p:cNvPr id="3" name="TextBox 3"/>
            <p:cNvSpPr txBox="1"/>
            <p:nvPr/>
          </p:nvSpPr>
          <p:spPr>
            <a:xfrm>
              <a:off x="604838" y="893445"/>
              <a:ext cx="13600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ECG AGENT · V1.0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2274570"/>
              <a:ext cx="512673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心电分析智能体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8932" y="320230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从信号到可复核提示的完整链路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09600" y="4038600"/>
              <a:ext cx="3467100" cy="342900"/>
              <a:chOff x="609600" y="4038600"/>
              <a:chExt cx="3467100" cy="3429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09600" y="4038600"/>
                <a:ext cx="1066800" cy="3429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33044" y="4128135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算法自实现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1809750" y="4038600"/>
                <a:ext cx="1066800" cy="3429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933194" y="4128135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五层防误报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3009900" y="4038600"/>
                <a:ext cx="1066800" cy="3429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133344" y="4128135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指标可复算</a:t>
                </a:r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6472238" y="2857500"/>
            <a:ext cx="5114925" cy="2365057"/>
            <a:chOff x="6472238" y="2857500"/>
            <a:chExt cx="5114925" cy="2365057"/>
          </a:xfrm>
        </p:grpSpPr>
        <p:sp>
          <p:nvSpPr>
            <p:cNvPr id="14" name="Line 14"/>
            <p:cNvSpPr/>
            <p:nvPr/>
          </p:nvSpPr>
          <p:spPr>
            <a:xfrm>
              <a:off x="6477000" y="400050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  <a:custDash>
                <a:ds d="400000" sp="600000"/>
              </a:custDash>
            </a:ln>
          </p:spPr>
        </p:sp>
        <p:sp>
          <p:nvSpPr>
            <p:cNvPr id="15" name="Polyline 15"/>
            <p:cNvSpPr/>
            <p:nvPr/>
          </p:nvSpPr>
          <p:spPr>
            <a:xfrm>
              <a:off x="6477000" y="2857500"/>
              <a:ext cx="5105400" cy="1714500"/>
            </a:xfrm>
            <a:custGeom>
              <a:avLst/>
              <a:gdLst/>
              <a:ahLst/>
              <a:cxnLst/>
              <a:rect l="l" t="t" r="r" b="b"/>
              <a:pathLst>
                <a:path w="5105400" h="1714500">
                  <a:moveTo>
                    <a:pt x="0" y="1143000"/>
                  </a:moveTo>
                  <a:lnTo>
                    <a:pt x="571500" y="1143000"/>
                  </a:lnTo>
                  <a:lnTo>
                    <a:pt x="647700" y="952500"/>
                  </a:lnTo>
                  <a:lnTo>
                    <a:pt x="723900" y="1524000"/>
                  </a:lnTo>
                  <a:lnTo>
                    <a:pt x="800100" y="0"/>
                  </a:lnTo>
                  <a:lnTo>
                    <a:pt x="876300" y="1714500"/>
                  </a:lnTo>
                  <a:lnTo>
                    <a:pt x="952500" y="1143000"/>
                  </a:lnTo>
                  <a:lnTo>
                    <a:pt x="1428750" y="1143000"/>
                  </a:lnTo>
                  <a:lnTo>
                    <a:pt x="1504950" y="1000125"/>
                  </a:lnTo>
                  <a:lnTo>
                    <a:pt x="1581150" y="1476375"/>
                  </a:lnTo>
                  <a:lnTo>
                    <a:pt x="1657350" y="381000"/>
                  </a:lnTo>
                  <a:lnTo>
                    <a:pt x="1733550" y="1619250"/>
                  </a:lnTo>
                  <a:lnTo>
                    <a:pt x="1809750" y="1143000"/>
                  </a:lnTo>
                  <a:lnTo>
                    <a:pt x="2381250" y="1143000"/>
                  </a:lnTo>
                  <a:lnTo>
                    <a:pt x="2457450" y="952500"/>
                  </a:lnTo>
                  <a:lnTo>
                    <a:pt x="2533650" y="1524000"/>
                  </a:lnTo>
                  <a:lnTo>
                    <a:pt x="2609850" y="95250"/>
                  </a:lnTo>
                  <a:lnTo>
                    <a:pt x="2686050" y="1619250"/>
                  </a:lnTo>
                  <a:lnTo>
                    <a:pt x="2762250" y="1143000"/>
                  </a:lnTo>
                  <a:lnTo>
                    <a:pt x="3333750" y="1143000"/>
                  </a:lnTo>
                  <a:lnTo>
                    <a:pt x="3409950" y="1000125"/>
                  </a:lnTo>
                  <a:lnTo>
                    <a:pt x="3486150" y="1476375"/>
                  </a:lnTo>
                  <a:lnTo>
                    <a:pt x="3562350" y="285750"/>
                  </a:lnTo>
                  <a:lnTo>
                    <a:pt x="3638550" y="1619250"/>
                  </a:lnTo>
                  <a:lnTo>
                    <a:pt x="3714750" y="1143000"/>
                  </a:lnTo>
                  <a:lnTo>
                    <a:pt x="4286250" y="1143000"/>
                  </a:lnTo>
                  <a:lnTo>
                    <a:pt x="4362450" y="952500"/>
                  </a:lnTo>
                  <a:lnTo>
                    <a:pt x="4438650" y="1524000"/>
                  </a:lnTo>
                  <a:lnTo>
                    <a:pt x="4514850" y="190500"/>
                  </a:lnTo>
                  <a:lnTo>
                    <a:pt x="4591050" y="1619250"/>
                  </a:lnTo>
                  <a:lnTo>
                    <a:pt x="4667250" y="1143000"/>
                  </a:lnTo>
                  <a:lnTo>
                    <a:pt x="5105400" y="1143000"/>
                  </a:lnTo>
                </a:path>
              </a:pathLst>
            </a:custGeom>
            <a:noFill/>
            <a:ln w="19050">
              <a:solidFill>
                <a:schemeClr val="accent2">
                  <a:alpha val="90000"/>
                </a:scheme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2238" y="5046345"/>
              <a:ext cx="9377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LEAD II · 250 Hz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64343" y="5046345"/>
              <a:ext cx="122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MIT-BIH 203 · 30 min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438900"/>
            <a:ext cx="10982324" cy="345757"/>
            <a:chOff x="604838" y="6438900"/>
            <a:chExt cx="10982324" cy="345757"/>
          </a:xfrm>
        </p:grpSpPr>
        <p:sp>
          <p:nvSpPr>
            <p:cNvPr id="19" name="Line 19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4838" y="6608445"/>
              <a:ext cx="25901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课程项目 · 便携式多导联心脏检测仪 · 算法交付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66236" y="6608445"/>
              <a:ext cx="16209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提示级 · 非诊断 · 需医生复核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0"/>
            <a:ext cx="10972800" cy="6858000"/>
          </a:xfrm>
          <a:custGeom>
            <a:avLst/>
            <a:gdLst/>
            <a:ahLst/>
            <a:cxnLst/>
            <a:rect l="l" t="t" r="r" b="b"/>
            <a:pathLst>
              <a:path w="10972800" h="6858000">
                <a:moveTo>
                  <a:pt x="0" y="0"/>
                </a:moveTo>
                <a:lnTo>
                  <a:pt x="0" y="6858000"/>
                </a:lnTo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</a:path>
            </a:pathLst>
          </a:custGeom>
          <a:noFill/>
          <a:ln w="9525">
            <a:solidFill>
              <a:srgbClr val="1A2942">
                <a:alpha val="45000"/>
              </a:srgb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4360" y="455295"/>
            <a:ext cx="10988040" cy="1078230"/>
            <a:chOff x="594360" y="455295"/>
            <a:chExt cx="10988040" cy="1078230"/>
          </a:xfrm>
        </p:grpSpPr>
        <p:sp>
          <p:nvSpPr>
            <p:cNvPr id="3" name="TextBox 3"/>
            <p:cNvSpPr txBox="1"/>
            <p:nvPr/>
          </p:nvSpPr>
          <p:spPr>
            <a:xfrm>
              <a:off x="604838" y="455295"/>
              <a:ext cx="6456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01 / 定位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74295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系统定位：一条可复核的分析链路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52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3504" y="1898332"/>
            <a:ext cx="4376928" cy="2780157"/>
            <a:chOff x="603504" y="1898332"/>
            <a:chExt cx="4376928" cy="2780157"/>
          </a:xfrm>
        </p:grpSpPr>
        <p:sp>
          <p:nvSpPr>
            <p:cNvPr id="7" name="TextBox 7"/>
            <p:cNvSpPr txBox="1"/>
            <p:nvPr/>
          </p:nvSpPr>
          <p:spPr>
            <a:xfrm>
              <a:off x="603504" y="19088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2218" y="1898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算法落地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2218" y="2222182"/>
              <a:ext cx="2981896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预处理、质量评估、QRS 检测、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HRV、心律筛查，全部用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numpy / scipy 自实现，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不依赖深度学习。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504" y="37185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218" y="37080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多重策略防误报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218" y="4031932"/>
              <a:ext cx="399821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五层策略逐级过滤候选，每层可单独开关；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被压掉的候选全部留痕，可审计。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43600" y="1879282"/>
            <a:ext cx="3505962" cy="2378774"/>
            <a:chOff x="5943600" y="1879282"/>
            <a:chExt cx="3505962" cy="2378774"/>
          </a:xfrm>
        </p:grpSpPr>
        <p:sp>
          <p:nvSpPr>
            <p:cNvPr id="14" name="Ellipse 14"/>
            <p:cNvSpPr/>
            <p:nvPr/>
          </p:nvSpPr>
          <p:spPr>
            <a:xfrm>
              <a:off x="5943600" y="1943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63818" y="18792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基本算法全部自实现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66104" y="21945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无黑盒模型，同样输入必然同样输出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943600" y="28575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163818" y="27936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五层策略可单独开关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66104" y="31089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支持消融实验，每层都能单独报数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943600" y="3771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163818" y="3708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所有输出为提示级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66104" y="4023360"/>
              <a:ext cx="3283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“疑似 / 建议就医复核”，不做诊断、不做预警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905500" y="4762500"/>
            <a:ext cx="5676900" cy="1333500"/>
            <a:chOff x="5905500" y="4762500"/>
            <a:chExt cx="56769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5905500" y="4762500"/>
              <a:ext cx="5676900" cy="1333500"/>
            </a:xfrm>
            <a:prstGeom prst="roundRect">
              <a:avLst>
                <a:gd name="adj" fmla="val 7143"/>
              </a:avLst>
            </a:prstGeom>
            <a:solidFill>
              <a:schemeClr val="accent2">
                <a:alpha val="7000"/>
              </a:scheme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05500" y="4762500"/>
              <a:ext cx="38100" cy="133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61532" y="5031105"/>
              <a:ext cx="1621536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机器负责筛，</a:t>
              </a:r>
              <a:br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人负责判。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67438" y="5865495"/>
              <a:ext cx="11484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—— 本项目的产品边界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4838" y="6438900"/>
            <a:ext cx="10982324" cy="345757"/>
            <a:chOff x="604838" y="6438900"/>
            <a:chExt cx="10982324" cy="345757"/>
          </a:xfrm>
        </p:grpSpPr>
        <p:sp>
          <p:nvSpPr>
            <p:cNvPr id="29" name="Line 29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4838" y="6608445"/>
              <a:ext cx="1899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ecg_agent v1.0 · 提示级，非诊断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71758" y="6608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0"/>
            <a:ext cx="10972800" cy="6858000"/>
          </a:xfrm>
          <a:custGeom>
            <a:avLst/>
            <a:gdLst/>
            <a:ahLst/>
            <a:cxnLst/>
            <a:rect l="l" t="t" r="r" b="b"/>
            <a:pathLst>
              <a:path w="10972800" h="6858000">
                <a:moveTo>
                  <a:pt x="0" y="0"/>
                </a:moveTo>
                <a:lnTo>
                  <a:pt x="0" y="6858000"/>
                </a:lnTo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</a:path>
            </a:pathLst>
          </a:custGeom>
          <a:noFill/>
          <a:ln w="9525">
            <a:solidFill>
              <a:srgbClr val="1A2942">
                <a:alpha val="45000"/>
              </a:srgb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4360" y="455295"/>
            <a:ext cx="10988040" cy="1078230"/>
            <a:chOff x="594360" y="455295"/>
            <a:chExt cx="10988040" cy="1078230"/>
          </a:xfrm>
        </p:grpSpPr>
        <p:sp>
          <p:nvSpPr>
            <p:cNvPr id="3" name="TextBox 3"/>
            <p:cNvSpPr txBox="1"/>
            <p:nvPr/>
          </p:nvSpPr>
          <p:spPr>
            <a:xfrm>
              <a:off x="604838" y="455295"/>
              <a:ext cx="9283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02 / 功能地图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7429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八个功能模块，一条数据流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52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809750"/>
            <a:ext cx="2571750" cy="1619250"/>
            <a:chOff x="609600" y="1809750"/>
            <a:chExt cx="2571750" cy="1619250"/>
          </a:xfrm>
        </p:grpSpPr>
        <p:sp>
          <p:nvSpPr>
            <p:cNvPr id="7" name="Rectangle 7"/>
            <p:cNvSpPr/>
            <p:nvPr/>
          </p:nvSpPr>
          <p:spPr>
            <a:xfrm>
              <a:off x="609600" y="1809750"/>
              <a:ext cx="2571750" cy="161925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4004" y="20040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718" y="23174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数据接入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4004" y="2689860"/>
              <a:ext cx="15742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MIT-BIH、PPG-DaLiA、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本地上传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409950" y="1809750"/>
            <a:ext cx="2571750" cy="1619250"/>
            <a:chOff x="3409950" y="1809750"/>
            <a:chExt cx="25717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409950" y="1809750"/>
              <a:ext cx="2571750" cy="161925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94354" y="20040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92068" y="23174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预处理与质量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94354" y="2689860"/>
              <a:ext cx="15361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去基线、带通、陷波；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s 窗质量分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10300" y="1809750"/>
            <a:ext cx="2571750" cy="1619250"/>
            <a:chOff x="6210300" y="1809750"/>
            <a:chExt cx="2571750" cy="1619250"/>
          </a:xfrm>
        </p:grpSpPr>
        <p:sp>
          <p:nvSpPr>
            <p:cNvPr id="17" name="Rectangle 17"/>
            <p:cNvSpPr/>
            <p:nvPr/>
          </p:nvSpPr>
          <p:spPr>
            <a:xfrm>
              <a:off x="6210300" y="1809750"/>
              <a:ext cx="2571750" cy="161925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94704" y="20040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92418" y="2317432"/>
              <a:ext cx="1261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QRS 与 HRV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4704" y="2689860"/>
              <a:ext cx="12618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双检测器；SDNN、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RMSSD、pNN50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010650" y="1809750"/>
            <a:ext cx="2571750" cy="1619250"/>
            <a:chOff x="9010650" y="1809750"/>
            <a:chExt cx="2571750" cy="1619250"/>
          </a:xfrm>
        </p:grpSpPr>
        <p:sp>
          <p:nvSpPr>
            <p:cNvPr id="22" name="Rectangle 22"/>
            <p:cNvSpPr/>
            <p:nvPr/>
          </p:nvSpPr>
          <p:spPr>
            <a:xfrm>
              <a:off x="9010650" y="1809750"/>
              <a:ext cx="2571750" cy="161925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95054" y="20040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92768" y="23174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心律筛查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95054" y="2689860"/>
              <a:ext cx="13837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停搏、过速、过缓、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早搏、房颤样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3714750"/>
            <a:ext cx="2571750" cy="1619250"/>
            <a:chOff x="609600" y="3714750"/>
            <a:chExt cx="2571750" cy="1619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714750"/>
              <a:ext cx="2571750" cy="161925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 w="9525">
              <a:solidFill>
                <a:schemeClr val="accent2">
                  <a:alpha val="50000"/>
                </a:scheme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4004" y="39090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1718" y="42224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五层防误报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4004" y="4594860"/>
              <a:ext cx="12771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质量门控 → 分级 →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 → 人审 → 定标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409950" y="3714750"/>
            <a:ext cx="2571750" cy="1619250"/>
            <a:chOff x="3409950" y="3714750"/>
            <a:chExt cx="2571750" cy="1619250"/>
          </a:xfrm>
        </p:grpSpPr>
        <p:sp>
          <p:nvSpPr>
            <p:cNvPr id="32" name="Rectangle 32"/>
            <p:cNvSpPr/>
            <p:nvPr/>
          </p:nvSpPr>
          <p:spPr>
            <a:xfrm>
              <a:off x="3409950" y="3714750"/>
              <a:ext cx="2571750" cy="161925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94354" y="39090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92068" y="42224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人群参数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94354" y="4594860"/>
              <a:ext cx="13228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年龄、性别、BMI；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儿科单独设阈值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10300" y="3714750"/>
            <a:ext cx="2571750" cy="1619250"/>
            <a:chOff x="6210300" y="3714750"/>
            <a:chExt cx="2571750" cy="1619250"/>
          </a:xfrm>
        </p:grpSpPr>
        <p:sp>
          <p:nvSpPr>
            <p:cNvPr id="37" name="Rectangle 37"/>
            <p:cNvSpPr/>
            <p:nvPr/>
          </p:nvSpPr>
          <p:spPr>
            <a:xfrm>
              <a:off x="6210300" y="3714750"/>
              <a:ext cx="2571750" cy="161925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94704" y="39090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92418" y="4222432"/>
              <a:ext cx="10042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报告与 AI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94704" y="4594860"/>
              <a:ext cx="14447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图文报告；DeepSeek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解读与追问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10650" y="3714750"/>
            <a:ext cx="2571750" cy="1619250"/>
            <a:chOff x="9010650" y="3714750"/>
            <a:chExt cx="2571750" cy="1619250"/>
          </a:xfrm>
        </p:grpSpPr>
        <p:sp>
          <p:nvSpPr>
            <p:cNvPr id="42" name="Rectangle 42"/>
            <p:cNvSpPr/>
            <p:nvPr/>
          </p:nvSpPr>
          <p:spPr>
            <a:xfrm>
              <a:off x="9010650" y="3714750"/>
              <a:ext cx="2571750" cy="161925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195054" y="39090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92768" y="42224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实时监测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95054" y="4594860"/>
              <a:ext cx="12542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每秒接收，每 5 秒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分析最近 60 秒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3504" y="5566410"/>
            <a:ext cx="1627632" cy="234696"/>
            <a:chOff x="603504" y="5566410"/>
            <a:chExt cx="1627632" cy="234696"/>
          </a:xfrm>
        </p:grpSpPr>
        <p:sp>
          <p:nvSpPr>
            <p:cNvPr id="47" name="TextBox 47"/>
            <p:cNvSpPr txBox="1"/>
            <p:nvPr/>
          </p:nvSpPr>
          <p:spPr>
            <a:xfrm>
              <a:off x="603504" y="55664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数据流：从接入到报告</a:t>
              </a:r>
            </a:p>
          </p:txBody>
        </p:sp>
      </p:grpSp>
      <p:sp>
        <p:nvSpPr>
          <p:cNvPr id="49" name="Freeform 49"/>
          <p:cNvSpPr/>
          <p:nvPr/>
        </p:nvSpPr>
        <p:spPr>
          <a:xfrm>
            <a:off x="609600" y="5905500"/>
            <a:ext cx="10972800" cy="209550"/>
          </a:xfrm>
          <a:prstGeom prst="rightArrow">
            <a:avLst/>
          </a:prstGeom>
          <a:solidFill>
            <a:schemeClr val="accent2">
              <a:alpha val="12000"/>
            </a:schemeClr>
          </a:solidFill>
          <a:ln w="9525">
            <a:solidFill>
              <a:schemeClr val="accent2">
                <a:alpha val="50000"/>
              </a:schemeClr>
            </a:solidFill>
          </a:ln>
        </p:spPr>
      </p:sp>
      <p:grpSp>
        <p:nvGrpSpPr>
          <p:cNvPr id="53" name="Group 53"/>
          <p:cNvGrpSpPr/>
          <p:nvPr/>
        </p:nvGrpSpPr>
        <p:grpSpPr>
          <a:xfrm>
            <a:off x="604838" y="6438900"/>
            <a:ext cx="10982324" cy="345757"/>
            <a:chOff x="604838" y="6438900"/>
            <a:chExt cx="10982324" cy="345757"/>
          </a:xfrm>
        </p:grpSpPr>
        <p:sp>
          <p:nvSpPr>
            <p:cNvPr id="50" name="Line 50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4838" y="6608445"/>
              <a:ext cx="1899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ecg_agent v1.0 · 提示级，非诊断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71758" y="6608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0"/>
            <a:ext cx="10972800" cy="6858000"/>
          </a:xfrm>
          <a:custGeom>
            <a:avLst/>
            <a:gdLst/>
            <a:ahLst/>
            <a:cxnLst/>
            <a:rect l="l" t="t" r="r" b="b"/>
            <a:pathLst>
              <a:path w="10972800" h="6858000">
                <a:moveTo>
                  <a:pt x="0" y="0"/>
                </a:moveTo>
                <a:lnTo>
                  <a:pt x="0" y="6858000"/>
                </a:lnTo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</a:path>
            </a:pathLst>
          </a:custGeom>
          <a:noFill/>
          <a:ln w="9525">
            <a:solidFill>
              <a:srgbClr val="1A2942">
                <a:alpha val="45000"/>
              </a:srgb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4360" y="455295"/>
            <a:ext cx="10988040" cy="1078230"/>
            <a:chOff x="594360" y="455295"/>
            <a:chExt cx="10988040" cy="1078230"/>
          </a:xfrm>
        </p:grpSpPr>
        <p:sp>
          <p:nvSpPr>
            <p:cNvPr id="3" name="TextBox 3"/>
            <p:cNvSpPr txBox="1"/>
            <p:nvPr/>
          </p:nvSpPr>
          <p:spPr>
            <a:xfrm>
              <a:off x="604838" y="455295"/>
              <a:ext cx="9283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03 / 数据接入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74295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三类数据源，一个入口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52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4838" y="1809750"/>
            <a:ext cx="6176962" cy="4441507"/>
            <a:chOff x="604838" y="1809750"/>
            <a:chExt cx="6176962" cy="4441507"/>
          </a:xfrm>
        </p:grpSpPr>
        <p:sp>
          <p:nvSpPr>
            <p:cNvPr id="7" name="Rectangle 7"/>
            <p:cNvSpPr/>
            <p:nvPr/>
          </p:nvSpPr>
          <p:spPr>
            <a:xfrm>
              <a:off x="609600" y="1809750"/>
              <a:ext cx="6172200" cy="4095750"/>
            </a:xfrm>
            <a:prstGeom prst="roundRect">
              <a:avLst>
                <a:gd name="adj" fmla="val 232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885950"/>
              <a:ext cx="6019800" cy="3762375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85800" y="1885950"/>
              <a:ext cx="6019800" cy="3762375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4838" y="6075045"/>
              <a:ext cx="24690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网页端：数据源 · 受检者信息 · 五层策略选择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116318" y="1879282"/>
            <a:ext cx="4466082" cy="3902774"/>
            <a:chOff x="7116318" y="1879282"/>
            <a:chExt cx="4466082" cy="3902774"/>
          </a:xfrm>
        </p:grpSpPr>
        <p:sp>
          <p:nvSpPr>
            <p:cNvPr id="12" name="TextBox 12"/>
            <p:cNvSpPr txBox="1"/>
            <p:nvPr/>
          </p:nvSpPr>
          <p:spPr>
            <a:xfrm>
              <a:off x="7116318" y="1879282"/>
              <a:ext cx="20650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MIT-BIH（带标注）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18604" y="2232660"/>
              <a:ext cx="19705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随包 5 条记录；补全 48 条后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可复算全库指标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124700" y="287655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16318" y="3079432"/>
              <a:ext cx="27803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PPG-DaLiA（穿戴长时程）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18604" y="3432810"/>
              <a:ext cx="18486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S1 缓存约 2.6 小时；15 例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原始数据需另放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124700" y="407670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16318" y="4279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上传文件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18604" y="4632960"/>
              <a:ext cx="23820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.npy / .csv 单文件；WFDB 需同时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上传 .hea 与 .dat / .mat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18604" y="5547360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选好数据源与策略 → 点「开始分析」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4838" y="6438900"/>
            <a:ext cx="10982324" cy="345757"/>
            <a:chOff x="604838" y="6438900"/>
            <a:chExt cx="10982324" cy="345757"/>
          </a:xfrm>
        </p:grpSpPr>
        <p:sp>
          <p:nvSpPr>
            <p:cNvPr id="22" name="Line 22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838" y="6608445"/>
              <a:ext cx="1899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ecg_agent v1.0 · 提示级，非诊断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71758" y="6608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0"/>
            <a:ext cx="10972800" cy="6858000"/>
          </a:xfrm>
          <a:custGeom>
            <a:avLst/>
            <a:gdLst/>
            <a:ahLst/>
            <a:cxnLst/>
            <a:rect l="l" t="t" r="r" b="b"/>
            <a:pathLst>
              <a:path w="10972800" h="6858000">
                <a:moveTo>
                  <a:pt x="0" y="0"/>
                </a:moveTo>
                <a:lnTo>
                  <a:pt x="0" y="6858000"/>
                </a:lnTo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</a:path>
            </a:pathLst>
          </a:custGeom>
          <a:noFill/>
          <a:ln w="9525">
            <a:solidFill>
              <a:srgbClr val="1A2942">
                <a:alpha val="45000"/>
              </a:srgb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4360" y="455295"/>
            <a:ext cx="10988040" cy="1078230"/>
            <a:chOff x="594360" y="455295"/>
            <a:chExt cx="10988040" cy="1078230"/>
          </a:xfrm>
        </p:grpSpPr>
        <p:sp>
          <p:nvSpPr>
            <p:cNvPr id="3" name="TextBox 3"/>
            <p:cNvSpPr txBox="1"/>
            <p:nvPr/>
          </p:nvSpPr>
          <p:spPr>
            <a:xfrm>
              <a:off x="604838" y="455295"/>
              <a:ext cx="9283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04 / 分析管线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74295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五步分析管线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52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sp>
        <p:nvSpPr>
          <p:cNvPr id="7" name="Freeform 7"/>
          <p:cNvSpPr/>
          <p:nvPr/>
        </p:nvSpPr>
        <p:spPr>
          <a:xfrm>
            <a:off x="609600" y="2381250"/>
            <a:ext cx="2286000" cy="609600"/>
          </a:xfrm>
          <a:prstGeom prst="chevron">
            <a:avLst/>
          </a:prstGeom>
          <a:solidFill>
            <a:schemeClr val="accent2">
              <a:alpha val="18000"/>
            </a:schemeClr>
          </a:solidFill>
          <a:ln w="9525">
            <a:solidFill>
              <a:schemeClr val="accent2">
                <a:alpha val="35000"/>
              </a:scheme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2724150" y="2381250"/>
            <a:ext cx="2286000" cy="609600"/>
          </a:xfrm>
          <a:prstGeom prst="chevron">
            <a:avLst/>
          </a:prstGeom>
          <a:solidFill>
            <a:srgbClr val="16233A"/>
          </a:solidFill>
          <a:ln w="9525">
            <a:solidFill>
              <a:schemeClr val="accent2">
                <a:alpha val="35000"/>
              </a:schemeClr>
            </a:solidFill>
          </a:ln>
        </p:spPr>
      </p:sp>
      <p:sp>
        <p:nvSpPr>
          <p:cNvPr id="9" name="Freeform 9"/>
          <p:cNvSpPr/>
          <p:nvPr/>
        </p:nvSpPr>
        <p:spPr>
          <a:xfrm>
            <a:off x="4838700" y="2381250"/>
            <a:ext cx="2286000" cy="609600"/>
          </a:xfrm>
          <a:prstGeom prst="chevron">
            <a:avLst/>
          </a:prstGeom>
          <a:solidFill>
            <a:srgbClr val="16233A"/>
          </a:solidFill>
          <a:ln w="9525">
            <a:solidFill>
              <a:schemeClr val="accent2">
                <a:alpha val="35000"/>
              </a:schemeClr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6953250" y="2381250"/>
            <a:ext cx="2286000" cy="609600"/>
          </a:xfrm>
          <a:prstGeom prst="chevron">
            <a:avLst/>
          </a:prstGeom>
          <a:solidFill>
            <a:srgbClr val="16233A"/>
          </a:solidFill>
          <a:ln w="9525">
            <a:solidFill>
              <a:schemeClr val="accent2">
                <a:alpha val="35000"/>
              </a:schemeClr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9067800" y="2381250"/>
            <a:ext cx="2286000" cy="609600"/>
          </a:xfrm>
          <a:prstGeom prst="chevron">
            <a:avLst/>
          </a:prstGeom>
          <a:solidFill>
            <a:srgbClr val="16233A"/>
          </a:solidFill>
          <a:ln w="9525">
            <a:solidFill>
              <a:schemeClr val="accent2">
                <a:alpha val="35000"/>
              </a:schemeClr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1653212" y="2632710"/>
            <a:ext cx="8652533" cy="234696"/>
            <a:chOff x="1653212" y="2632710"/>
            <a:chExt cx="8652533" cy="234696"/>
          </a:xfrm>
        </p:grpSpPr>
        <p:sp>
          <p:nvSpPr>
            <p:cNvPr id="12" name="TextBox 12"/>
            <p:cNvSpPr txBox="1"/>
            <p:nvPr/>
          </p:nvSpPr>
          <p:spPr>
            <a:xfrm>
              <a:off x="1653212" y="26327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72205" y="26327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86755" y="26327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01305" y="26327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115855" y="26327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1218" y="3212782"/>
            <a:ext cx="9691878" cy="816674"/>
            <a:chOff x="601218" y="3212782"/>
            <a:chExt cx="9691878" cy="816674"/>
          </a:xfrm>
        </p:grpSpPr>
        <p:sp>
          <p:nvSpPr>
            <p:cNvPr id="18" name="TextBox 18"/>
            <p:cNvSpPr txBox="1"/>
            <p:nvPr/>
          </p:nvSpPr>
          <p:spPr>
            <a:xfrm>
              <a:off x="601218" y="3212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预处理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3504" y="3566160"/>
              <a:ext cx="9265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两级中值滤波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带通 + 陷波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15768" y="3212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质量评估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18054" y="3566160"/>
              <a:ext cx="12313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s 窗质量分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基线、工频、肌电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30318" y="3212782"/>
              <a:ext cx="10159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QRS 检测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32604" y="3566160"/>
              <a:ext cx="10332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Pan-Tompkins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XQRS 第二意见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44868" y="3212782"/>
              <a:ext cx="4233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HRV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47154" y="3566160"/>
              <a:ext cx="10637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SDNN / RMSSD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pNN50 / 样本熵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59418" y="3212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心律筛查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61704" y="3566160"/>
              <a:ext cx="12313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停搏、过速、过缓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早搏、房颤样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4360" y="4857750"/>
            <a:ext cx="10988040" cy="1164907"/>
            <a:chOff x="594360" y="4857750"/>
            <a:chExt cx="10988040" cy="1164907"/>
          </a:xfrm>
        </p:grpSpPr>
        <p:sp>
          <p:nvSpPr>
            <p:cNvPr id="29" name="Line 29"/>
            <p:cNvSpPr/>
            <p:nvPr/>
          </p:nvSpPr>
          <p:spPr>
            <a:xfrm>
              <a:off x="609600" y="4857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4360" y="5257800"/>
              <a:ext cx="13238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≈ 390×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68118" y="5117782"/>
              <a:ext cx="355815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30 分钟记录在 CPU 上约 5 秒；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纯 numpy / scipy，无深度学习依赖。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71738" y="5846445"/>
              <a:ext cx="19792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5 s / 30 min · single core · 250 Hz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438900"/>
            <a:ext cx="10982324" cy="345757"/>
            <a:chOff x="604838" y="6438900"/>
            <a:chExt cx="10982324" cy="345757"/>
          </a:xfrm>
        </p:grpSpPr>
        <p:sp>
          <p:nvSpPr>
            <p:cNvPr id="34" name="Line 34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4838" y="6608445"/>
              <a:ext cx="1899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ecg_agent v1.0 · 提示级，非诊断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71758" y="6608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0"/>
            <a:ext cx="10972800" cy="6858000"/>
          </a:xfrm>
          <a:custGeom>
            <a:avLst/>
            <a:gdLst/>
            <a:ahLst/>
            <a:cxnLst/>
            <a:rect l="l" t="t" r="r" b="b"/>
            <a:pathLst>
              <a:path w="10972800" h="6858000">
                <a:moveTo>
                  <a:pt x="0" y="0"/>
                </a:moveTo>
                <a:lnTo>
                  <a:pt x="0" y="6858000"/>
                </a:lnTo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</a:path>
            </a:pathLst>
          </a:custGeom>
          <a:noFill/>
          <a:ln w="9525">
            <a:solidFill>
              <a:srgbClr val="1A2942">
                <a:alpha val="45000"/>
              </a:srgb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4360" y="455295"/>
            <a:ext cx="10988040" cy="1078230"/>
            <a:chOff x="594360" y="455295"/>
            <a:chExt cx="10988040" cy="1078230"/>
          </a:xfrm>
        </p:grpSpPr>
        <p:sp>
          <p:nvSpPr>
            <p:cNvPr id="3" name="TextBox 3"/>
            <p:cNvSpPr txBox="1"/>
            <p:nvPr/>
          </p:nvSpPr>
          <p:spPr>
            <a:xfrm>
              <a:off x="604838" y="455295"/>
              <a:ext cx="7869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05 / 防误报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7429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五层策略：把报警变成</a:t>
              </a:r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可解释的提示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52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09600" y="1809750"/>
            <a:ext cx="5715000" cy="3629406"/>
            <a:chOff x="609600" y="1809750"/>
            <a:chExt cx="5715000" cy="3629406"/>
          </a:xfrm>
        </p:grpSpPr>
        <p:sp>
          <p:nvSpPr>
            <p:cNvPr id="7" name="Rectangle 7"/>
            <p:cNvSpPr/>
            <p:nvPr/>
          </p:nvSpPr>
          <p:spPr>
            <a:xfrm>
              <a:off x="609600" y="1809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chemeClr val="accent2">
                <a:alpha val="14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1076" y="190881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4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质量门控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6904" y="2156460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信号质量分 &lt; 0.6 的候选先压掉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45745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2571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chemeClr val="accent2">
                <a:alpha val="14000"/>
              </a:scheme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1076" y="267081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4618" y="26222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6904" y="2918460"/>
              <a:ext cx="1991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info / 关注 / 建议就医复核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321945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9600" y="3333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chemeClr val="accent2">
                <a:alpha val="14000"/>
              </a:scheme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1076" y="343281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4618" y="3384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二次确认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6904" y="36804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第二检测器复现才算数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398145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" y="4095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chemeClr val="accent2">
                <a:alpha val="14000"/>
              </a:scheme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1076" y="419481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4618" y="4146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人审兜底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6904" y="44424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输出限提示级，需医生复核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09600" y="474345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9600" y="4857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chemeClr val="accent2">
                <a:alpha val="14000"/>
              </a:scheme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076" y="495681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4618" y="4908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个体定标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6904" y="52044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用本人前 5 分钟基线微调阈值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029450" y="1908810"/>
            <a:ext cx="4552950" cy="3132963"/>
            <a:chOff x="7029450" y="1908810"/>
            <a:chExt cx="4552950" cy="3132963"/>
          </a:xfrm>
        </p:grpSpPr>
        <p:sp>
          <p:nvSpPr>
            <p:cNvPr id="32" name="TextBox 32"/>
            <p:cNvSpPr txBox="1"/>
            <p:nvPr/>
          </p:nvSpPr>
          <p:spPr>
            <a:xfrm>
              <a:off x="7042404" y="19088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114 号记录 · 30 分钟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29450" y="2141220"/>
              <a:ext cx="217532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37 </a:t>
              </a:r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42404" y="289941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裸阈值上报 → 五层后上报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048500" y="33337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33260" y="3409950"/>
              <a:ext cx="238397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5.95 → 1.84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42404" y="38709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窦律时段报警率（次 / 小时）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37832" y="415480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−69%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66304" y="4251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报警率降幅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37832" y="4631055"/>
              <a:ext cx="13422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6/6 → 5/6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28304" y="47282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房颤检出（代价）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4838" y="6438900"/>
            <a:ext cx="10982324" cy="345757"/>
            <a:chOff x="604838" y="6438900"/>
            <a:chExt cx="10982324" cy="345757"/>
          </a:xfrm>
        </p:grpSpPr>
        <p:sp>
          <p:nvSpPr>
            <p:cNvPr id="43" name="Line 43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4838" y="6608445"/>
              <a:ext cx="1899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ecg_agent v1.0 · 提示级，非诊断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71758" y="6608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0"/>
            <a:ext cx="10972800" cy="6858000"/>
          </a:xfrm>
          <a:custGeom>
            <a:avLst/>
            <a:gdLst/>
            <a:ahLst/>
            <a:cxnLst/>
            <a:rect l="l" t="t" r="r" b="b"/>
            <a:pathLst>
              <a:path w="10972800" h="6858000">
                <a:moveTo>
                  <a:pt x="0" y="0"/>
                </a:moveTo>
                <a:lnTo>
                  <a:pt x="0" y="6858000"/>
                </a:lnTo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</a:path>
            </a:pathLst>
          </a:custGeom>
          <a:noFill/>
          <a:ln w="9525">
            <a:solidFill>
              <a:srgbClr val="1A2942">
                <a:alpha val="45000"/>
              </a:srgb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4360" y="455295"/>
            <a:ext cx="10988040" cy="1078230"/>
            <a:chOff x="594360" y="455295"/>
            <a:chExt cx="10988040" cy="1078230"/>
          </a:xfrm>
        </p:grpSpPr>
        <p:sp>
          <p:nvSpPr>
            <p:cNvPr id="3" name="TextBox 3"/>
            <p:cNvSpPr txBox="1"/>
            <p:nvPr/>
          </p:nvSpPr>
          <p:spPr>
            <a:xfrm>
              <a:off x="604838" y="455295"/>
              <a:ext cx="9283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06 / 结果总览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74295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一次分析，先看四个数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52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4838" y="1809750"/>
            <a:ext cx="8386762" cy="4022407"/>
            <a:chOff x="604838" y="1809750"/>
            <a:chExt cx="8386762" cy="4022407"/>
          </a:xfrm>
        </p:grpSpPr>
        <p:sp>
          <p:nvSpPr>
            <p:cNvPr id="7" name="Rectangle 7"/>
            <p:cNvSpPr/>
            <p:nvPr/>
          </p:nvSpPr>
          <p:spPr>
            <a:xfrm>
              <a:off x="609600" y="1809750"/>
              <a:ext cx="8382000" cy="3714750"/>
            </a:xfrm>
            <a:prstGeom prst="roundRect">
              <a:avLst>
                <a:gd name="adj" fmla="val 256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0161" y="1905000"/>
              <a:ext cx="8180877" cy="3438525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704850" y="1905000"/>
              <a:ext cx="8191500" cy="3438525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4838" y="5655945"/>
              <a:ext cx="30499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203 号记录 · 30 分钟 · 受检者 35 岁 / 男 / BMI 23.5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35618" y="1860232"/>
            <a:ext cx="2446782" cy="3407474"/>
            <a:chOff x="9135618" y="1860232"/>
            <a:chExt cx="2446782" cy="3407474"/>
          </a:xfrm>
        </p:grpSpPr>
        <p:sp>
          <p:nvSpPr>
            <p:cNvPr id="12" name="TextBox 12"/>
            <p:cNvSpPr txBox="1"/>
            <p:nvPr/>
          </p:nvSpPr>
          <p:spPr>
            <a:xfrm>
              <a:off x="9135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总体分级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137904" y="2175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四级分流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144000" y="259080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35618" y="2812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上报事件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37904" y="31280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可行动提示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9144000" y="354330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35618" y="37652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被压掉候选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37904" y="40805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进附录，可审计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144000" y="449580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35618" y="47177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有效监测占比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37904" y="5033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质量门控通过率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438900"/>
            <a:ext cx="10982324" cy="345757"/>
            <a:chOff x="604838" y="6438900"/>
            <a:chExt cx="10982324" cy="345757"/>
          </a:xfrm>
        </p:grpSpPr>
        <p:sp>
          <p:nvSpPr>
            <p:cNvPr id="24" name="Line 24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4838" y="6608445"/>
              <a:ext cx="1899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ecg_agent v1.0 · 提示级，非诊断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71758" y="6608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0"/>
            <a:ext cx="10972800" cy="6858000"/>
          </a:xfrm>
          <a:custGeom>
            <a:avLst/>
            <a:gdLst/>
            <a:ahLst/>
            <a:cxnLst/>
            <a:rect l="l" t="t" r="r" b="b"/>
            <a:pathLst>
              <a:path w="10972800" h="6858000">
                <a:moveTo>
                  <a:pt x="0" y="0"/>
                </a:moveTo>
                <a:lnTo>
                  <a:pt x="0" y="6858000"/>
                </a:lnTo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</a:path>
            </a:pathLst>
          </a:custGeom>
          <a:noFill/>
          <a:ln w="9525">
            <a:solidFill>
              <a:srgbClr val="1A2942">
                <a:alpha val="45000"/>
              </a:srgb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4360" y="455295"/>
            <a:ext cx="10988040" cy="1078230"/>
            <a:chOff x="594360" y="455295"/>
            <a:chExt cx="10988040" cy="1078230"/>
          </a:xfrm>
        </p:grpSpPr>
        <p:sp>
          <p:nvSpPr>
            <p:cNvPr id="3" name="TextBox 3"/>
            <p:cNvSpPr txBox="1"/>
            <p:nvPr/>
          </p:nvSpPr>
          <p:spPr>
            <a:xfrm>
              <a:off x="604838" y="455295"/>
              <a:ext cx="7869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07 / 可追溯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74295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每个结论都能追到原因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52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9600" y="1762125"/>
            <a:ext cx="8153400" cy="2238375"/>
            <a:chOff x="609600" y="1762125"/>
            <a:chExt cx="8153400" cy="2238375"/>
          </a:xfrm>
        </p:grpSpPr>
        <p:sp>
          <p:nvSpPr>
            <p:cNvPr id="7" name="Rectangle 7"/>
            <p:cNvSpPr/>
            <p:nvPr/>
          </p:nvSpPr>
          <p:spPr>
            <a:xfrm>
              <a:off x="609600" y="1762125"/>
              <a:ext cx="8153400" cy="2238375"/>
            </a:xfrm>
            <a:prstGeom prst="roundRect">
              <a:avLst>
                <a:gd name="adj" fmla="val 425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1075" y="1828800"/>
              <a:ext cx="7990449" cy="2028825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85800" y="1828800"/>
              <a:ext cx="8001000" cy="2028825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09600" y="4381500"/>
            <a:ext cx="7620000" cy="2047875"/>
            <a:chOff x="609600" y="4381500"/>
            <a:chExt cx="7620000" cy="2047875"/>
          </a:xfrm>
        </p:grpSpPr>
        <p:sp>
          <p:nvSpPr>
            <p:cNvPr id="11" name="Rectangle 11"/>
            <p:cNvSpPr/>
            <p:nvPr/>
          </p:nvSpPr>
          <p:spPr>
            <a:xfrm>
              <a:off x="609600" y="4381500"/>
              <a:ext cx="7620000" cy="2047875"/>
            </a:xfrm>
            <a:prstGeom prst="roundRect">
              <a:avLst>
                <a:gd name="adj" fmla="val 465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4410075"/>
              <a:ext cx="7429500" cy="2019300"/>
            </a:xfrm>
            <a:prstGeom prst="rect">
              <a:avLst/>
            </a:prstGeom>
          </p:spPr>
        </p:pic>
        <p:sp>
          <p:nvSpPr>
            <p:cNvPr id="13" name="Rectangle 13"/>
            <p:cNvSpPr/>
            <p:nvPr/>
          </p:nvSpPr>
          <p:spPr>
            <a:xfrm>
              <a:off x="685800" y="4410075"/>
              <a:ext cx="7429500" cy="20193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135618" y="1870710"/>
            <a:ext cx="1629918" cy="4139946"/>
            <a:chOff x="9135618" y="1870710"/>
            <a:chExt cx="1629918" cy="4139946"/>
          </a:xfrm>
        </p:grpSpPr>
        <p:sp>
          <p:nvSpPr>
            <p:cNvPr id="15" name="TextBox 15"/>
            <p:cNvSpPr txBox="1"/>
            <p:nvPr/>
          </p:nvSpPr>
          <p:spPr>
            <a:xfrm>
              <a:off x="9137904" y="18707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35618" y="21078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事件表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37904" y="2423160"/>
              <a:ext cx="13837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类型、时间、分级、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置信度、依据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37904" y="31089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3561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附录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37904" y="3661410"/>
              <a:ext cx="13837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被压掉候选与原因，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逐条可查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37904" y="43472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35618" y="4584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决策日志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37904" y="4899660"/>
              <a:ext cx="12313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工具调用、耗时、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L1–L5 计数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37904" y="57759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每条结论都能回到证据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438900"/>
            <a:ext cx="10982324" cy="345757"/>
            <a:chOff x="604838" y="6438900"/>
            <a:chExt cx="10982324" cy="345757"/>
          </a:xfrm>
        </p:grpSpPr>
        <p:sp>
          <p:nvSpPr>
            <p:cNvPr id="26" name="Line 26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4838" y="6608445"/>
              <a:ext cx="1899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ecg_agent v1.0 · 提示级，非诊断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71758" y="6608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0"/>
            <a:ext cx="10972800" cy="6858000"/>
          </a:xfrm>
          <a:custGeom>
            <a:avLst/>
            <a:gdLst/>
            <a:ahLst/>
            <a:cxnLst/>
            <a:rect l="l" t="t" r="r" b="b"/>
            <a:pathLst>
              <a:path w="10972800" h="6858000">
                <a:moveTo>
                  <a:pt x="0" y="0"/>
                </a:moveTo>
                <a:lnTo>
                  <a:pt x="0" y="6858000"/>
                </a:lnTo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</a:path>
            </a:pathLst>
          </a:custGeom>
          <a:noFill/>
          <a:ln w="9525">
            <a:solidFill>
              <a:srgbClr val="1A2942">
                <a:alpha val="45000"/>
              </a:srgb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4360" y="455295"/>
            <a:ext cx="10988040" cy="1078230"/>
            <a:chOff x="594360" y="455295"/>
            <a:chExt cx="10988040" cy="1078230"/>
          </a:xfrm>
        </p:grpSpPr>
        <p:sp>
          <p:nvSpPr>
            <p:cNvPr id="3" name="TextBox 3"/>
            <p:cNvSpPr txBox="1"/>
            <p:nvPr/>
          </p:nvSpPr>
          <p:spPr>
            <a:xfrm>
              <a:off x="604838" y="455295"/>
              <a:ext cx="9283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08 / 图文报告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74295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一键生成可留档的报告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52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4838" y="1809750"/>
            <a:ext cx="3814762" cy="3489007"/>
            <a:chOff x="604838" y="1809750"/>
            <a:chExt cx="3814762" cy="3489007"/>
          </a:xfrm>
        </p:grpSpPr>
        <p:sp>
          <p:nvSpPr>
            <p:cNvPr id="7" name="Rectangle 7"/>
            <p:cNvSpPr/>
            <p:nvPr/>
          </p:nvSpPr>
          <p:spPr>
            <a:xfrm>
              <a:off x="609600" y="1809750"/>
              <a:ext cx="3810000" cy="3143250"/>
            </a:xfrm>
            <a:prstGeom prst="roundRect">
              <a:avLst>
                <a:gd name="adj" fmla="val 303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50" y="1924050"/>
              <a:ext cx="3619500" cy="2828925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704850" y="1924050"/>
              <a:ext cx="3619500" cy="2828925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4838" y="5122545"/>
              <a:ext cx="19480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报告头部：受检者、人群阈值、结论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67238" y="1809750"/>
            <a:ext cx="3433762" cy="4022407"/>
            <a:chOff x="4567238" y="1809750"/>
            <a:chExt cx="3433762" cy="4022407"/>
          </a:xfrm>
        </p:grpSpPr>
        <p:sp>
          <p:nvSpPr>
            <p:cNvPr id="12" name="Rectangle 12"/>
            <p:cNvSpPr/>
            <p:nvPr/>
          </p:nvSpPr>
          <p:spPr>
            <a:xfrm>
              <a:off x="4572000" y="1809750"/>
              <a:ext cx="3429000" cy="3714750"/>
            </a:xfrm>
            <a:prstGeom prst="roundRect">
              <a:avLst>
                <a:gd name="adj" fmla="val 27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14875" y="1964531"/>
              <a:ext cx="3143250" cy="3405188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4714875" y="1962150"/>
              <a:ext cx="3143250" cy="340995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67238" y="5655945"/>
              <a:ext cx="25901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四联图：心率与事件、质量分、Poincaré、波形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83118" y="1860232"/>
            <a:ext cx="3399282" cy="3236024"/>
            <a:chOff x="8183118" y="1860232"/>
            <a:chExt cx="3399282" cy="3236024"/>
          </a:xfrm>
        </p:grpSpPr>
        <p:sp>
          <p:nvSpPr>
            <p:cNvPr id="17" name="TextBox 17"/>
            <p:cNvSpPr txBox="1"/>
            <p:nvPr/>
          </p:nvSpPr>
          <p:spPr>
            <a:xfrm>
              <a:off x="81831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报告包含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85404" y="23088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结论与提示级措辞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85404" y="26517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事件表与被压掉候选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85404" y="29946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四联图与决策日志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85404" y="33375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方法与环境说明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191500" y="3905250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85404" y="4156710"/>
              <a:ext cx="279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所有措辞停留在</a:t>
              </a:r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“疑似 / 建议就医复核”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85404" y="4632960"/>
              <a:ext cx="15361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可直接交给医生复核，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也可作为课程材料留档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438900"/>
            <a:ext cx="10982324" cy="345757"/>
            <a:chOff x="604838" y="6438900"/>
            <a:chExt cx="10982324" cy="345757"/>
          </a:xfrm>
        </p:grpSpPr>
        <p:sp>
          <p:nvSpPr>
            <p:cNvPr id="26" name="Line 26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4838" y="6608445"/>
              <a:ext cx="1899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ecg_agent v1.0 · 提示级，非诊断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71758" y="6608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0"/>
            <a:ext cx="10972800" cy="6858000"/>
          </a:xfrm>
          <a:custGeom>
            <a:avLst/>
            <a:gdLst/>
            <a:ahLst/>
            <a:cxnLst/>
            <a:rect l="l" t="t" r="r" b="b"/>
            <a:pathLst>
              <a:path w="10972800" h="6858000">
                <a:moveTo>
                  <a:pt x="0" y="0"/>
                </a:moveTo>
                <a:lnTo>
                  <a:pt x="0" y="6858000"/>
                </a:lnTo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</a:path>
            </a:pathLst>
          </a:custGeom>
          <a:noFill/>
          <a:ln w="9525">
            <a:solidFill>
              <a:srgbClr val="1A2942">
                <a:alpha val="45000"/>
              </a:srgb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4360" y="455295"/>
            <a:ext cx="10988040" cy="1078230"/>
            <a:chOff x="594360" y="455295"/>
            <a:chExt cx="10988040" cy="1078230"/>
          </a:xfrm>
        </p:grpSpPr>
        <p:sp>
          <p:nvSpPr>
            <p:cNvPr id="3" name="TextBox 3"/>
            <p:cNvSpPr txBox="1"/>
            <p:nvPr/>
          </p:nvSpPr>
          <p:spPr>
            <a:xfrm>
              <a:off x="604838" y="455295"/>
              <a:ext cx="9283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09 / 人群参数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742950"/>
              <a:ext cx="68985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年龄 / 性别 / BMI：先验，不是结论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52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4838" y="1809750"/>
            <a:ext cx="2290762" cy="4174807"/>
            <a:chOff x="604838" y="1809750"/>
            <a:chExt cx="2290762" cy="4174807"/>
          </a:xfrm>
        </p:grpSpPr>
        <p:sp>
          <p:nvSpPr>
            <p:cNvPr id="7" name="Rectangle 7"/>
            <p:cNvSpPr/>
            <p:nvPr/>
          </p:nvSpPr>
          <p:spPr>
            <a:xfrm>
              <a:off x="609600" y="1809750"/>
              <a:ext cx="2286000" cy="4095750"/>
            </a:xfrm>
            <a:prstGeom prst="roundRect">
              <a:avLst>
                <a:gd name="adj" fmla="val 416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50" y="1905000"/>
              <a:ext cx="2095500" cy="3629025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704850" y="1905000"/>
              <a:ext cx="2095500" cy="3629025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4838" y="5808345"/>
              <a:ext cx="12384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输入年龄、性别、BMI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048000" y="1908810"/>
            <a:ext cx="8534400" cy="3244596"/>
            <a:chOff x="3048000" y="1908810"/>
            <a:chExt cx="8534400" cy="3244596"/>
          </a:xfrm>
        </p:grpSpPr>
        <p:sp>
          <p:nvSpPr>
            <p:cNvPr id="12" name="TextBox 12"/>
            <p:cNvSpPr txBox="1"/>
            <p:nvPr/>
          </p:nvSpPr>
          <p:spPr>
            <a:xfrm>
              <a:off x="3194304" y="1908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年龄段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32804" y="1908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过速阈值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18804" y="1908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过缓阈值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048000" y="2152650"/>
              <a:ext cx="8534400" cy="9525"/>
            </a:xfrm>
            <a:custGeom>
              <a:avLst/>
              <a:gdLst/>
              <a:ahLst/>
              <a:cxnLst/>
              <a:rect l="l" t="t" r="r" b="b"/>
              <a:pathLst>
                <a:path w="8534400" h="9525">
                  <a:moveTo>
                    <a:pt x="0" y="0"/>
                  </a:moveTo>
                  <a:lnTo>
                    <a:pt x="853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194304" y="2385060"/>
              <a:ext cx="1207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新生儿（&lt;1 月）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32804" y="2385060"/>
              <a:ext cx="714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&gt;180 bpm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18804" y="2385060"/>
              <a:ext cx="714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&lt;100 bpm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048000" y="2628900"/>
              <a:ext cx="8534400" cy="9525"/>
            </a:xfrm>
            <a:custGeom>
              <a:avLst/>
              <a:gdLst/>
              <a:ahLst/>
              <a:cxnLst/>
              <a:rect l="l" t="t" r="r" b="b"/>
              <a:pathLst>
                <a:path w="8534400" h="9525">
                  <a:moveTo>
                    <a:pt x="0" y="0"/>
                  </a:moveTo>
                  <a:lnTo>
                    <a:pt x="8534400" y="0"/>
                  </a:lnTo>
                </a:path>
              </a:pathLst>
            </a:custGeom>
            <a:noFill/>
            <a:ln w="9525">
              <a:solidFill>
                <a:srgbClr val="1A294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194304" y="2747010"/>
              <a:ext cx="12237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婴儿（1–12 月）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32804" y="2747010"/>
              <a:ext cx="714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&gt;160 bpm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18804" y="2747010"/>
              <a:ext cx="626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&lt;90 bpm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048000" y="2990850"/>
              <a:ext cx="8534400" cy="9525"/>
            </a:xfrm>
            <a:custGeom>
              <a:avLst/>
              <a:gdLst/>
              <a:ahLst/>
              <a:cxnLst/>
              <a:rect l="l" t="t" r="r" b="b"/>
              <a:pathLst>
                <a:path w="8534400" h="9525">
                  <a:moveTo>
                    <a:pt x="0" y="0"/>
                  </a:moveTo>
                  <a:lnTo>
                    <a:pt x="8534400" y="0"/>
                  </a:lnTo>
                </a:path>
              </a:pathLst>
            </a:custGeom>
            <a:noFill/>
            <a:ln w="9525">
              <a:solidFill>
                <a:srgbClr val="1A294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194304" y="3108960"/>
              <a:ext cx="1134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幼儿（1–3 岁）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2804" y="3108960"/>
              <a:ext cx="714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&gt;150 bpm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18804" y="3108960"/>
              <a:ext cx="626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&lt;80 bpm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048000" y="3352800"/>
              <a:ext cx="8534400" cy="9525"/>
            </a:xfrm>
            <a:custGeom>
              <a:avLst/>
              <a:gdLst/>
              <a:ahLst/>
              <a:cxnLst/>
              <a:rect l="l" t="t" r="r" b="b"/>
              <a:pathLst>
                <a:path w="8534400" h="9525">
                  <a:moveTo>
                    <a:pt x="0" y="0"/>
                  </a:moveTo>
                  <a:lnTo>
                    <a:pt x="8534400" y="0"/>
                  </a:lnTo>
                </a:path>
              </a:pathLst>
            </a:custGeom>
            <a:noFill/>
            <a:ln w="9525">
              <a:solidFill>
                <a:srgbClr val="1A294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94304" y="3470910"/>
              <a:ext cx="1296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学龄前（3–6 岁）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2804" y="3470910"/>
              <a:ext cx="714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&gt;140 bpm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18804" y="3470910"/>
              <a:ext cx="626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&lt;70 bpm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3048000" y="3714750"/>
              <a:ext cx="8534400" cy="9525"/>
            </a:xfrm>
            <a:custGeom>
              <a:avLst/>
              <a:gdLst/>
              <a:ahLst/>
              <a:cxnLst/>
              <a:rect l="l" t="t" r="r" b="b"/>
              <a:pathLst>
                <a:path w="8534400" h="9525">
                  <a:moveTo>
                    <a:pt x="0" y="0"/>
                  </a:moveTo>
                  <a:lnTo>
                    <a:pt x="8534400" y="0"/>
                  </a:lnTo>
                </a:path>
              </a:pathLst>
            </a:custGeom>
            <a:noFill/>
            <a:ln w="9525">
              <a:solidFill>
                <a:srgbClr val="1A294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194304" y="3832860"/>
              <a:ext cx="1385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学龄期（6–12 岁）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32804" y="3832860"/>
              <a:ext cx="714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&gt;120 bpm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18804" y="3832860"/>
              <a:ext cx="626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&lt;60 bpm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3048000" y="4076700"/>
              <a:ext cx="8534400" cy="9525"/>
            </a:xfrm>
            <a:custGeom>
              <a:avLst/>
              <a:gdLst/>
              <a:ahLst/>
              <a:cxnLst/>
              <a:rect l="l" t="t" r="r" b="b"/>
              <a:pathLst>
                <a:path w="8534400" h="9525">
                  <a:moveTo>
                    <a:pt x="0" y="0"/>
                  </a:moveTo>
                  <a:lnTo>
                    <a:pt x="8534400" y="0"/>
                  </a:lnTo>
                </a:path>
              </a:pathLst>
            </a:custGeom>
            <a:noFill/>
            <a:ln w="9525">
              <a:solidFill>
                <a:srgbClr val="1A294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194304" y="4194810"/>
              <a:ext cx="14741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青少年（12–18 岁）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32804" y="4194810"/>
              <a:ext cx="714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&gt;100 bpm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18804" y="4194810"/>
              <a:ext cx="626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&lt;50 bpm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3048000" y="4438650"/>
              <a:ext cx="8534400" cy="9525"/>
            </a:xfrm>
            <a:custGeom>
              <a:avLst/>
              <a:gdLst/>
              <a:ahLst/>
              <a:cxnLst/>
              <a:rect l="l" t="t" r="r" b="b"/>
              <a:pathLst>
                <a:path w="8534400" h="9525">
                  <a:moveTo>
                    <a:pt x="0" y="0"/>
                  </a:moveTo>
                  <a:lnTo>
                    <a:pt x="8534400" y="0"/>
                  </a:lnTo>
                </a:path>
              </a:pathLst>
            </a:custGeom>
            <a:noFill/>
            <a:ln w="9525">
              <a:solidFill>
                <a:srgbClr val="1A294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194304" y="4556760"/>
              <a:ext cx="13126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成人（18–65 岁）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2804" y="4556760"/>
              <a:ext cx="714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&gt;100 bpm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18804" y="4556760"/>
              <a:ext cx="626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&lt;50 bpm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3048000" y="4800600"/>
              <a:ext cx="8534400" cy="9525"/>
            </a:xfrm>
            <a:custGeom>
              <a:avLst/>
              <a:gdLst/>
              <a:ahLst/>
              <a:cxnLst/>
              <a:rect l="l" t="t" r="r" b="b"/>
              <a:pathLst>
                <a:path w="8534400" h="9525">
                  <a:moveTo>
                    <a:pt x="0" y="0"/>
                  </a:moveTo>
                  <a:lnTo>
                    <a:pt x="8534400" y="0"/>
                  </a:lnTo>
                </a:path>
              </a:pathLst>
            </a:custGeom>
            <a:noFill/>
            <a:ln w="9525">
              <a:solidFill>
                <a:srgbClr val="1A2942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194304" y="49187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老年（65 岁以上）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32804" y="4918710"/>
              <a:ext cx="714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&gt;100 bpm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18804" y="4918710"/>
              <a:ext cx="626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&lt;45 bpm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041904" y="5337810"/>
            <a:ext cx="4812792" cy="1034796"/>
            <a:chOff x="3041904" y="5337810"/>
            <a:chExt cx="4812792" cy="1034796"/>
          </a:xfrm>
        </p:grpSpPr>
        <p:sp>
          <p:nvSpPr>
            <p:cNvPr id="48" name="TextBox 48"/>
            <p:cNvSpPr txBox="1"/>
            <p:nvPr/>
          </p:nvSpPr>
          <p:spPr>
            <a:xfrm>
              <a:off x="3041904" y="5337810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房颤筛查：成人 / 老年启用；18 岁以下未验证，关闭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041904" y="5604510"/>
              <a:ext cx="48127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女性过速上限 +2 bpm；BMI &gt;25 每 5 单位 +1 bpm，上限 +4（弱证据）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儿科不让 L5 放宽阈值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41904" y="6137910"/>
              <a:ext cx="3519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L5 在人群先验之上，用本人前 5 分钟基线微调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4838" y="6438900"/>
            <a:ext cx="10982324" cy="345757"/>
            <a:chOff x="604838" y="6438900"/>
            <a:chExt cx="10982324" cy="345757"/>
          </a:xfrm>
        </p:grpSpPr>
        <p:sp>
          <p:nvSpPr>
            <p:cNvPr id="52" name="Line 52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4838" y="6608445"/>
              <a:ext cx="1899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ecg_agent v1.0 · 提示级，非诊断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171758" y="6608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0"/>
            <a:ext cx="10972800" cy="6858000"/>
          </a:xfrm>
          <a:custGeom>
            <a:avLst/>
            <a:gdLst/>
            <a:ahLst/>
            <a:cxnLst/>
            <a:rect l="l" t="t" r="r" b="b"/>
            <a:pathLst>
              <a:path w="10972800" h="6858000">
                <a:moveTo>
                  <a:pt x="0" y="0"/>
                </a:moveTo>
                <a:lnTo>
                  <a:pt x="0" y="6858000"/>
                </a:lnTo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</a:path>
            </a:pathLst>
          </a:custGeom>
          <a:noFill/>
          <a:ln w="9525">
            <a:solidFill>
              <a:srgbClr val="1A2942">
                <a:alpha val="45000"/>
              </a:srgb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4360" y="455295"/>
            <a:ext cx="10988040" cy="1078230"/>
            <a:chOff x="594360" y="455295"/>
            <a:chExt cx="10988040" cy="1078230"/>
          </a:xfrm>
        </p:grpSpPr>
        <p:sp>
          <p:nvSpPr>
            <p:cNvPr id="3" name="TextBox 3"/>
            <p:cNvSpPr txBox="1"/>
            <p:nvPr/>
          </p:nvSpPr>
          <p:spPr>
            <a:xfrm>
              <a:off x="604838" y="455295"/>
              <a:ext cx="10421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10 / AI 表达层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742950"/>
              <a:ext cx="41316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大模型只负责“说人话”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52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9600" y="1809750"/>
            <a:ext cx="6858000" cy="2238375"/>
            <a:chOff x="609600" y="1809750"/>
            <a:chExt cx="6858000" cy="2238375"/>
          </a:xfrm>
        </p:grpSpPr>
        <p:sp>
          <p:nvSpPr>
            <p:cNvPr id="7" name="Rectangle 7"/>
            <p:cNvSpPr/>
            <p:nvPr/>
          </p:nvSpPr>
          <p:spPr>
            <a:xfrm>
              <a:off x="609600" y="1809750"/>
              <a:ext cx="6858000" cy="2238375"/>
            </a:xfrm>
            <a:prstGeom prst="roundRect">
              <a:avLst>
                <a:gd name="adj" fmla="val 425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0796" y="1866900"/>
              <a:ext cx="6655608" cy="2124075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704850" y="1866900"/>
              <a:ext cx="6667500" cy="2124075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09600" y="4238625"/>
            <a:ext cx="6858000" cy="2190750"/>
            <a:chOff x="609600" y="4238625"/>
            <a:chExt cx="6858000" cy="2190750"/>
          </a:xfrm>
        </p:grpSpPr>
        <p:sp>
          <p:nvSpPr>
            <p:cNvPr id="11" name="Rectangle 11"/>
            <p:cNvSpPr/>
            <p:nvPr/>
          </p:nvSpPr>
          <p:spPr>
            <a:xfrm>
              <a:off x="609600" y="4238625"/>
              <a:ext cx="6858000" cy="2190750"/>
            </a:xfrm>
            <a:prstGeom prst="roundRect">
              <a:avLst>
                <a:gd name="adj" fmla="val 434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850" y="4276725"/>
              <a:ext cx="6572250" cy="2143125"/>
            </a:xfrm>
            <a:prstGeom prst="rect">
              <a:avLst/>
            </a:prstGeom>
          </p:spPr>
        </p:pic>
        <p:sp>
          <p:nvSpPr>
            <p:cNvPr id="13" name="Rectangle 13"/>
            <p:cNvSpPr/>
            <p:nvPr/>
          </p:nvSpPr>
          <p:spPr>
            <a:xfrm>
              <a:off x="704850" y="4276725"/>
              <a:ext cx="6572250" cy="2143125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609332" y="1860232"/>
            <a:ext cx="2421636" cy="4314825"/>
            <a:chOff x="7609332" y="1860232"/>
            <a:chExt cx="2421636" cy="4314825"/>
          </a:xfrm>
        </p:grpSpPr>
        <p:sp>
          <p:nvSpPr>
            <p:cNvPr id="15" name="TextBox 15"/>
            <p:cNvSpPr txBox="1"/>
            <p:nvPr/>
          </p:nvSpPr>
          <p:spPr>
            <a:xfrm>
              <a:off x="7611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算法决策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13904" y="21755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 + 五层，可复现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11618" y="2603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模型改写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13904" y="29184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只做表达，不参与判断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11618" y="33461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硬约束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13904" y="3661410"/>
              <a:ext cx="123139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只能提示级措辞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不得编造数字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不确定就说不确定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9332" y="4916805"/>
              <a:ext cx="2421636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判不判由算法定，</a:t>
              </a:r>
              <a:br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怎么说由模型润色。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15238" y="5998845"/>
              <a:ext cx="20897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追问会结合 HRV 与五层决策日志回答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438900"/>
            <a:ext cx="10982324" cy="345757"/>
            <a:chOff x="604838" y="6438900"/>
            <a:chExt cx="10982324" cy="345757"/>
          </a:xfrm>
        </p:grpSpPr>
        <p:sp>
          <p:nvSpPr>
            <p:cNvPr id="24" name="Line 24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4838" y="6608445"/>
              <a:ext cx="1899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ecg_agent v1.0 · 提示级，非诊断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71758" y="6608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0"/>
            <a:ext cx="10972800" cy="6858000"/>
          </a:xfrm>
          <a:custGeom>
            <a:avLst/>
            <a:gdLst/>
            <a:ahLst/>
            <a:cxnLst/>
            <a:rect l="l" t="t" r="r" b="b"/>
            <a:pathLst>
              <a:path w="10972800" h="6858000">
                <a:moveTo>
                  <a:pt x="0" y="0"/>
                </a:moveTo>
                <a:lnTo>
                  <a:pt x="0" y="6858000"/>
                </a:lnTo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</a:path>
            </a:pathLst>
          </a:custGeom>
          <a:noFill/>
          <a:ln w="9525">
            <a:solidFill>
              <a:srgbClr val="1A2942">
                <a:alpha val="45000"/>
              </a:srgb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4360" y="455295"/>
            <a:ext cx="10988040" cy="1078230"/>
            <a:chOff x="594360" y="455295"/>
            <a:chExt cx="10988040" cy="1078230"/>
          </a:xfrm>
        </p:grpSpPr>
        <p:sp>
          <p:nvSpPr>
            <p:cNvPr id="3" name="TextBox 3"/>
            <p:cNvSpPr txBox="1"/>
            <p:nvPr/>
          </p:nvSpPr>
          <p:spPr>
            <a:xfrm>
              <a:off x="604838" y="455295"/>
              <a:ext cx="9283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11 / 实时监测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742950"/>
              <a:ext cx="810465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模拟实时：每秒接收，每 5 秒分析最近 60 秒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52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9600" y="1809750"/>
            <a:ext cx="7562850" cy="4591050"/>
            <a:chOff x="609600" y="1809750"/>
            <a:chExt cx="7562850" cy="4591050"/>
          </a:xfrm>
        </p:grpSpPr>
        <p:sp>
          <p:nvSpPr>
            <p:cNvPr id="7" name="Rectangle 7"/>
            <p:cNvSpPr/>
            <p:nvPr/>
          </p:nvSpPr>
          <p:spPr>
            <a:xfrm>
              <a:off x="609600" y="1809750"/>
              <a:ext cx="7562850" cy="4591050"/>
            </a:xfrm>
            <a:prstGeom prst="roundRect">
              <a:avLst>
                <a:gd name="adj" fmla="val 207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866900"/>
              <a:ext cx="7410450" cy="451485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85800" y="1866900"/>
              <a:ext cx="7410450" cy="451485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561832" y="1964055"/>
            <a:ext cx="3020568" cy="3970401"/>
            <a:chOff x="8561832" y="1964055"/>
            <a:chExt cx="3020568" cy="3970401"/>
          </a:xfrm>
        </p:grpSpPr>
        <p:sp>
          <p:nvSpPr>
            <p:cNvPr id="11" name="TextBox 11"/>
            <p:cNvSpPr txBox="1"/>
            <p:nvPr/>
          </p:nvSpPr>
          <p:spPr>
            <a:xfrm>
              <a:off x="8561832" y="1964055"/>
              <a:ext cx="4369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 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66404" y="2327910"/>
              <a:ext cx="9494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每次接收 1 秒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不跳过样本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61832" y="31070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60 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66404" y="3470910"/>
              <a:ext cx="14218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分析窗：30 s 房颤窗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 一个完整 RR 余量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61832" y="4250055"/>
              <a:ext cx="4369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5 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66404" y="4613910"/>
              <a:ext cx="11018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 5 秒分析一次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复用离线管线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572500" y="529590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66404" y="5471160"/>
              <a:ext cx="18409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实时模式只做单窗判定，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可靠性低于离线双窗确认。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438900"/>
            <a:ext cx="10982324" cy="345757"/>
            <a:chOff x="604838" y="6438900"/>
            <a:chExt cx="10982324" cy="345757"/>
          </a:xfrm>
        </p:grpSpPr>
        <p:sp>
          <p:nvSpPr>
            <p:cNvPr id="20" name="Line 20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608445"/>
              <a:ext cx="1899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ecg_agent v1.0 · 提示级，非诊断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608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0"/>
            <a:ext cx="10972800" cy="6858000"/>
          </a:xfrm>
          <a:custGeom>
            <a:avLst/>
            <a:gdLst/>
            <a:ahLst/>
            <a:cxnLst/>
            <a:rect l="l" t="t" r="r" b="b"/>
            <a:pathLst>
              <a:path w="10972800" h="6858000">
                <a:moveTo>
                  <a:pt x="0" y="0"/>
                </a:moveTo>
                <a:lnTo>
                  <a:pt x="0" y="6858000"/>
                </a:lnTo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</a:path>
            </a:pathLst>
          </a:custGeom>
          <a:noFill/>
          <a:ln w="9525">
            <a:solidFill>
              <a:srgbClr val="1A2942">
                <a:alpha val="45000"/>
              </a:srgb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4360" y="455295"/>
            <a:ext cx="10988040" cy="1078230"/>
            <a:chOff x="594360" y="455295"/>
            <a:chExt cx="10988040" cy="1078230"/>
          </a:xfrm>
        </p:grpSpPr>
        <p:sp>
          <p:nvSpPr>
            <p:cNvPr id="3" name="TextBox 3"/>
            <p:cNvSpPr txBox="1"/>
            <p:nvPr/>
          </p:nvSpPr>
          <p:spPr>
            <a:xfrm>
              <a:off x="604838" y="455295"/>
              <a:ext cx="6456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12 / 证据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7429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指标与消融：可复算的证据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52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09600" y="1908810"/>
            <a:ext cx="6858000" cy="1548765"/>
            <a:chOff x="609600" y="1908810"/>
            <a:chExt cx="6858000" cy="1548765"/>
          </a:xfrm>
        </p:grpSpPr>
        <p:sp>
          <p:nvSpPr>
            <p:cNvPr id="7" name="TextBox 7"/>
            <p:cNvSpPr txBox="1"/>
            <p:nvPr/>
          </p:nvSpPr>
          <p:spPr>
            <a:xfrm>
              <a:off x="755904" y="19088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080004" y="1908810"/>
              <a:ext cx="204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13504" y="1908810"/>
              <a:ext cx="7036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PPV / Sp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37504" y="19088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备注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15265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904" y="2366010"/>
              <a:ext cx="11814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QRS（自实现）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80004" y="2366010"/>
              <a:ext cx="577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99.22%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13504" y="2366010"/>
              <a:ext cx="577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98.81%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37504" y="2366010"/>
              <a:ext cx="1529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vs XQRS 99.1/99.4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260985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1A294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5904" y="27851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房颤样心律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80004" y="2785110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91.7%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13504" y="2785110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93.6%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37504" y="2785110"/>
              <a:ext cx="8186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Acc 93.4%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302895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1A294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5904" y="3204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室性早搏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80004" y="3204210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94.8%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13504" y="3204210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85.5%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37504" y="3204210"/>
              <a:ext cx="754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F1 89.9%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09600" y="344805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1A2942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985760" y="2171700"/>
            <a:ext cx="3596640" cy="1819656"/>
            <a:chOff x="7985760" y="2171700"/>
            <a:chExt cx="3596640" cy="1819656"/>
          </a:xfrm>
        </p:grpSpPr>
        <p:sp>
          <p:nvSpPr>
            <p:cNvPr id="28" name="TextBox 28"/>
            <p:cNvSpPr txBox="1"/>
            <p:nvPr/>
          </p:nvSpPr>
          <p:spPr>
            <a:xfrm>
              <a:off x="7985760" y="2171700"/>
              <a:ext cx="10482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−69%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94904" y="26517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窦律时段报警率降幅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94904" y="28994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5.95 → 1.84 次 / 小时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001000" y="333375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90332" y="3392805"/>
              <a:ext cx="13422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6/6 → 5/6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94904" y="37566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房颤检出（保守化的代价）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1218" y="4203382"/>
            <a:ext cx="10981182" cy="1197674"/>
            <a:chOff x="601218" y="4203382"/>
            <a:chExt cx="10981182" cy="1197674"/>
          </a:xfrm>
        </p:grpSpPr>
        <p:sp>
          <p:nvSpPr>
            <p:cNvPr id="35" name="TextBox 35"/>
            <p:cNvSpPr txBox="1"/>
            <p:nvPr/>
          </p:nvSpPr>
          <p:spPr>
            <a:xfrm>
              <a:off x="601218" y="42033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噪声压力测试：质量门控识别率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3504" y="467106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基线漂移 94%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37154" y="4671060"/>
              <a:ext cx="77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工频 100%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18404" y="4671060"/>
              <a:ext cx="77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肌电 100%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99654" y="4671060"/>
              <a:ext cx="1886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运动伪差 0%（已知短板）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09600" y="499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1A294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3504" y="5166360"/>
              <a:ext cx="5303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指标在 48 条 MIT-BIH 记录上复算；随包 5 条记录可先跑通完整流程。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4838" y="6438900"/>
            <a:ext cx="10982324" cy="345757"/>
            <a:chOff x="604838" y="6438900"/>
            <a:chExt cx="10982324" cy="345757"/>
          </a:xfrm>
        </p:grpSpPr>
        <p:sp>
          <p:nvSpPr>
            <p:cNvPr id="43" name="Line 43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4838" y="6608445"/>
              <a:ext cx="1899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ecg_agent v1.0 · 提示级，非诊断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71758" y="6608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0"/>
            <a:ext cx="10972800" cy="6858000"/>
          </a:xfrm>
          <a:custGeom>
            <a:avLst/>
            <a:gdLst/>
            <a:ahLst/>
            <a:cxnLst/>
            <a:rect l="l" t="t" r="r" b="b"/>
            <a:pathLst>
              <a:path w="10972800" h="6858000">
                <a:moveTo>
                  <a:pt x="0" y="0"/>
                </a:moveTo>
                <a:lnTo>
                  <a:pt x="0" y="6858000"/>
                </a:lnTo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</a:path>
            </a:pathLst>
          </a:custGeom>
          <a:noFill/>
          <a:ln w="9525">
            <a:solidFill>
              <a:srgbClr val="1A2942">
                <a:alpha val="45000"/>
              </a:srgb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4360" y="455295"/>
            <a:ext cx="10988040" cy="1078230"/>
            <a:chOff x="594360" y="455295"/>
            <a:chExt cx="10988040" cy="1078230"/>
          </a:xfrm>
        </p:grpSpPr>
        <p:sp>
          <p:nvSpPr>
            <p:cNvPr id="3" name="TextBox 3"/>
            <p:cNvSpPr txBox="1"/>
            <p:nvPr/>
          </p:nvSpPr>
          <p:spPr>
            <a:xfrm>
              <a:off x="604838" y="455295"/>
              <a:ext cx="6456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13 / 边界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74295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已知限制与下一步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52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1218" y="1908810"/>
            <a:ext cx="5151882" cy="3339846"/>
            <a:chOff x="601218" y="1908810"/>
            <a:chExt cx="5151882" cy="3339846"/>
          </a:xfrm>
        </p:grpSpPr>
        <p:sp>
          <p:nvSpPr>
            <p:cNvPr id="7" name="TextBox 7"/>
            <p:cNvSpPr txBox="1"/>
            <p:nvPr/>
          </p:nvSpPr>
          <p:spPr>
            <a:xfrm>
              <a:off x="603504" y="19088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限制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218" y="2241232"/>
              <a:ext cx="21368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 类室上早 Se 4.6%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3504" y="2556510"/>
              <a:ext cx="16885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形态与正常拍几乎一致，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单导联 P 波不可靠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30670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01218" y="3212782"/>
              <a:ext cx="20130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114 / 203 低幅漏检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3504" y="3528060"/>
              <a:ext cx="14523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会产生“停搏 18.5 s”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这类假事件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40386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1218" y="41843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儿科阈值未验证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3504" y="4499610"/>
              <a:ext cx="1692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 岁以下房颤筛查关闭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3504" y="50139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阈值均需用自采数据重新标定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87618" y="1908810"/>
            <a:ext cx="2251862" cy="3377946"/>
            <a:chOff x="6087618" y="1908810"/>
            <a:chExt cx="2251862" cy="3377946"/>
          </a:xfrm>
        </p:grpSpPr>
        <p:sp>
          <p:nvSpPr>
            <p:cNvPr id="18" name="TextBox 18"/>
            <p:cNvSpPr txBox="1"/>
            <p:nvPr/>
          </p:nvSpPr>
          <p:spPr>
            <a:xfrm>
              <a:off x="6089904" y="1908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87618" y="22412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心拍分类回灌检测器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9904" y="2556510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修 114 / 119 / 203 的残余误差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87618" y="3003232"/>
              <a:ext cx="19430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补 P 波与房扑特征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89904" y="3318510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目标特异度 95% 以上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87618" y="37652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儿科数据与自采标定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89904" y="4080510"/>
              <a:ext cx="17568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设备出来后 5–10 人实测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89904" y="4823460"/>
              <a:ext cx="16885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下一步不是加功能，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是把已有能力验证扎实。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8932" y="5583555"/>
            <a:ext cx="3696462" cy="733234"/>
            <a:chOff x="598932" y="5583555"/>
            <a:chExt cx="3696462" cy="733234"/>
          </a:xfrm>
        </p:grpSpPr>
        <p:sp>
          <p:nvSpPr>
            <p:cNvPr id="27" name="TextBox 27"/>
            <p:cNvSpPr txBox="1"/>
            <p:nvPr/>
          </p:nvSpPr>
          <p:spPr>
            <a:xfrm>
              <a:off x="598932" y="558355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提示级、可复核、边界清晰。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218" y="59940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机器负责筛，人负责判。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438900"/>
            <a:ext cx="10982324" cy="345757"/>
            <a:chOff x="604838" y="6438900"/>
            <a:chExt cx="10982324" cy="345757"/>
          </a:xfrm>
        </p:grpSpPr>
        <p:sp>
          <p:nvSpPr>
            <p:cNvPr id="30" name="Line 30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4838" y="6608445"/>
              <a:ext cx="1899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ecg_agent v1.0 · 提示级，非诊断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71758" y="6608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ecg_agent_intro_20261023">
  <a:themeElements>
    <a:clrScheme name="ecg_agent_intro_20261023">
      <a:dk1>
        <a:srgbClr val="C7D3E3"/>
      </a:dk1>
      <a:lt1>
        <a:srgbClr val="0B1220"/>
      </a:lt1>
      <a:dk2>
        <a:srgbClr val="1F497D"/>
      </a:dk2>
      <a:lt2>
        <a:srgbClr val="111C2E"/>
      </a:lt2>
      <a:accent1>
        <a:srgbClr val="E6F1FF"/>
      </a:accent1>
      <a:accent2>
        <a:srgbClr val="2DD4BF"/>
      </a:accent2>
      <a:accent3>
        <a:srgbClr val="F5A524"/>
      </a:accent3>
      <a:accent4>
        <a:srgbClr val="E6F1FF"/>
      </a:accent4>
      <a:accent5>
        <a:srgbClr val="8DA0B8"/>
      </a:accent5>
      <a:accent6>
        <a:srgbClr val="223149"/>
      </a:accent6>
      <a:hlink>
        <a:srgbClr val="2DD4BF"/>
      </a:hlink>
      <a:folHlink>
        <a:srgbClr val="F5A524"/>
      </a:folHlink>
    </a:clrScheme>
    <a:fontScheme name="ecg_agent_intro_2026102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cg_agent_intro_2026102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ecg_agent_intro_20261023">
  <a:themeElements>
    <a:clrScheme name="ecg_agent_intro_20261023">
      <a:dk1>
        <a:srgbClr val="C7D3E3"/>
      </a:dk1>
      <a:lt1>
        <a:srgbClr val="0B1220"/>
      </a:lt1>
      <a:dk2>
        <a:srgbClr val="1F497D"/>
      </a:dk2>
      <a:lt2>
        <a:srgbClr val="111C2E"/>
      </a:lt2>
      <a:accent1>
        <a:srgbClr val="E6F1FF"/>
      </a:accent1>
      <a:accent2>
        <a:srgbClr val="2DD4BF"/>
      </a:accent2>
      <a:accent3>
        <a:srgbClr val="F5A524"/>
      </a:accent3>
      <a:accent4>
        <a:srgbClr val="E6F1FF"/>
      </a:accent4>
      <a:accent5>
        <a:srgbClr val="8DA0B8"/>
      </a:accent5>
      <a:accent6>
        <a:srgbClr val="223149"/>
      </a:accent6>
      <a:hlink>
        <a:srgbClr val="2DD4BF"/>
      </a:hlink>
      <a:folHlink>
        <a:srgbClr val="F5A524"/>
      </a:folHlink>
    </a:clrScheme>
    <a:fontScheme name="ecg_agent_intro_2026102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cg_agent_intro_2026102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2026-10-23T13:20:39Z</dcterms:created>
  <dcterms:modified xsi:type="dcterms:W3CDTF">2026-10-23T13:20:39Z</dcterms:modified>
  <cp:category/>
  <cp:contentStatus/>
</cp:coreProperties>
</file>